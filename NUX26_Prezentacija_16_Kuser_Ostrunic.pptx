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3593" autoAdjust="0"/>
  </p:normalViewPr>
  <p:slideViewPr>
    <p:cSldViewPr snapToGrid="0" snapToObjects="1">
      <p:cViewPr varScale="1">
        <p:scale>
          <a:sx n="111" d="100"/>
          <a:sy n="111" d="100"/>
        </p:scale>
        <p:origin x="8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2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</a:t>
            </a:r>
            <a:r>
              <a:rPr lang="en-US" dirty="0" err="1"/>
              <a:t>odlomke</a:t>
            </a:r>
            <a:r>
              <a:rPr lang="en-US" dirty="0"/>
              <a:t>.</a:t>
            </a: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Pravila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izlaganja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najviše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4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slajda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bez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dugih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teorijskih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uvoda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prikazati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dokaze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izvedbe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ispitivanja</a:t>
            </a: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treba biti kratka: cilj, arhitektura, ključna konfiguracija, ispitivanje, doprinos. Ne čitati dugačke odlomke.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r>
              <a:rPr lang="hr-HR"/>
              <a:t>Akademska godina 2025./2026.</a:t>
            </a:r>
          </a:p>
        </p:txBody>
      </p:sp>
      <p:sp>
        <p:nvSpPr>
          <p:cNvPr id="4" name="Text 2"/>
          <p:cNvSpPr/>
          <p:nvPr/>
        </p:nvSpPr>
        <p:spPr>
          <a:xfrm>
            <a:off x="473931" y="1161288"/>
            <a:ext cx="19202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Napredna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UNIX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rješenja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34340" y="6408874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TEHNIČKA PREZENTACIJA</a:t>
            </a:r>
          </a:p>
        </p:txBody>
      </p:sp>
      <p:sp>
        <p:nvSpPr>
          <p:cNvPr id="6" name="Text 4"/>
          <p:cNvSpPr/>
          <p:nvPr/>
        </p:nvSpPr>
        <p:spPr>
          <a:xfrm>
            <a:off x="3337560" y="676656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384048"/>
            <a:ext cx="8046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disk enkripcija i LUKS zaštita podataka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46704" y="1764792"/>
            <a:ext cx="7223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Projektna tema 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42316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Shape 8"/>
          <p:cNvSpPr/>
          <p:nvPr/>
        </p:nvSpPr>
        <p:spPr>
          <a:xfrm>
            <a:off x="3337560" y="2423160"/>
            <a:ext cx="73152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3502152" y="2551176"/>
            <a:ext cx="34290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 i odgovornosti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2862072"/>
            <a:ext cx="3410712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Filip Kušer — Azure, mreža, LUKS konfiguracija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Patrik Ostrunić — ispitivanje, validacija, dokumentacija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24231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Shape 12"/>
          <p:cNvSpPr/>
          <p:nvPr/>
        </p:nvSpPr>
        <p:spPr>
          <a:xfrm>
            <a:off x="7360920" y="2423160"/>
            <a:ext cx="73152" cy="114300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7525512" y="2551176"/>
            <a:ext cx="33375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hr-HR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500" b="1" dirty="0" err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ilj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25512" y="2862072"/>
            <a:ext cx="3319272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Zaštita podataka u mirovanju na dodatnom Azure disku: izrada LUKS2 šifriranog volumena, otključavanje, XFS, montiranje i trajno automatsko otključavanje.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37560" y="3904488"/>
            <a:ext cx="763524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Shape 16"/>
          <p:cNvSpPr/>
          <p:nvPr/>
        </p:nvSpPr>
        <p:spPr>
          <a:xfrm>
            <a:off x="3337560" y="3904488"/>
            <a:ext cx="73152" cy="1325880"/>
          </a:xfrm>
          <a:prstGeom prst="rect">
            <a:avLst/>
          </a:prstGeom>
          <a:solidFill>
            <a:srgbClr val="E68619"/>
          </a:solidFill>
          <a:ln w="12700">
            <a:solidFill>
              <a:srgbClr val="E6861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3502152" y="4032504"/>
            <a:ext cx="7360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Jedan ključni rezultat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02152" y="4343400"/>
            <a:ext cx="7342632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Nakon reboota volumen se automatski otključa i „sha256sum -c" daje OK; na sirovom disku (crypto_LUKS) marker se ne može pronaći.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0" y="5742432"/>
            <a:ext cx="7680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22" name="Picture 21" descr="Tehničko veleučilište u Zagrebu">
            <a:extLst>
              <a:ext uri="{FF2B5EF4-FFF2-40B4-BE49-F238E27FC236}">
                <a16:creationId xmlns:a16="http://schemas.microsoft.com/office/drawing/2014/main" id="{9A216598-7C5A-CE78-2445-85CADB10D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20"/>
          <a:stretch>
            <a:fillRect/>
          </a:stretch>
        </p:blipFill>
        <p:spPr bwMode="auto">
          <a:xfrm>
            <a:off x="411480" y="-37338"/>
            <a:ext cx="1338688" cy="111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3E9A940D-587C-8CB5-C848-99B8866C19E0}"/>
              </a:ext>
            </a:extLst>
          </p:cNvPr>
          <p:cNvSpPr/>
          <p:nvPr/>
        </p:nvSpPr>
        <p:spPr>
          <a:xfrm>
            <a:off x="473931" y="241353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2025./2026.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Arhitektura sustava i mrežna topologija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C7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Prikaz rješenja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064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389888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6D1E3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DIJAGRAM ARHITEKTURE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 (SSH)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2359152"/>
            <a:ext cx="0" cy="4572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13" name="Shape 11"/>
          <p:cNvSpPr/>
          <p:nvPr/>
        </p:nvSpPr>
        <p:spPr>
          <a:xfrm>
            <a:off x="1234440" y="2816352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DDE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1353312" y="2907792"/>
            <a:ext cx="1005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VNet · 10.0.0.0/16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3072384"/>
            <a:ext cx="11430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16" name="Shape 14"/>
          <p:cNvSpPr/>
          <p:nvPr/>
        </p:nvSpPr>
        <p:spPr>
          <a:xfrm>
            <a:off x="3657600" y="21488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3767328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VM1 · 10.0.0.4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7490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3767328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Dodatni disk · LUKS2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834640"/>
            <a:ext cx="0" cy="91440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21" name="Text 19"/>
          <p:cNvSpPr/>
          <p:nvPr/>
        </p:nvSpPr>
        <p:spPr>
          <a:xfrm>
            <a:off x="4736592" y="2953512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 · port 22 (SSH)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2816352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F4E4"/>
          </a:solidFill>
          <a:ln w="12700">
            <a:solidFill>
              <a:srgbClr val="F0B3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1"/>
          <p:cNvSpPr/>
          <p:nvPr/>
        </p:nvSpPr>
        <p:spPr>
          <a:xfrm>
            <a:off x="5669280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NSG · samo 22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5303520"/>
            <a:ext cx="5577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1426464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Mrežni podaci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406640" y="1847088"/>
            <a:ext cx="132588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Text 25"/>
          <p:cNvSpPr/>
          <p:nvPr/>
        </p:nvSpPr>
        <p:spPr>
          <a:xfrm>
            <a:off x="7434072" y="1947672"/>
            <a:ext cx="12893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/ resurs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1847088"/>
            <a:ext cx="96012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9" name="Text 27"/>
          <p:cNvSpPr/>
          <p:nvPr/>
        </p:nvSpPr>
        <p:spPr>
          <a:xfrm>
            <a:off x="8897112" y="1947672"/>
            <a:ext cx="92354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Uloga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921240" y="1847088"/>
            <a:ext cx="86868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9948672" y="1947672"/>
            <a:ext cx="83210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Privatni IP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27080" y="1847088"/>
            <a:ext cx="822960" cy="384048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3" name="Text 31"/>
          <p:cNvSpPr/>
          <p:nvPr/>
        </p:nvSpPr>
        <p:spPr>
          <a:xfrm>
            <a:off x="10954512" y="1947672"/>
            <a:ext cx="78638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Portovi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2231136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5" name="Text 33"/>
          <p:cNvSpPr/>
          <p:nvPr/>
        </p:nvSpPr>
        <p:spPr>
          <a:xfrm>
            <a:off x="7443216" y="2386584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869680" y="2231136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7" name="Text 35"/>
          <p:cNvSpPr/>
          <p:nvPr/>
        </p:nvSpPr>
        <p:spPr>
          <a:xfrm>
            <a:off x="8906256" y="2386584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šifrirana pohrana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921240" y="2231136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9" name="Text 37"/>
          <p:cNvSpPr/>
          <p:nvPr/>
        </p:nvSpPr>
        <p:spPr>
          <a:xfrm>
            <a:off x="9957816" y="2386584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10.0.0.4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927080" y="2231136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1" name="Text 39"/>
          <p:cNvSpPr/>
          <p:nvPr/>
        </p:nvSpPr>
        <p:spPr>
          <a:xfrm>
            <a:off x="10963656" y="2386584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06640" y="2706624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3" name="Text 41"/>
          <p:cNvSpPr/>
          <p:nvPr/>
        </p:nvSpPr>
        <p:spPr>
          <a:xfrm>
            <a:off x="7443216" y="2862072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Dodatni disk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869680" y="2706624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5" name="Text 43"/>
          <p:cNvSpPr/>
          <p:nvPr/>
        </p:nvSpPr>
        <p:spPr>
          <a:xfrm>
            <a:off x="8906256" y="2862072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LUKS2 volumen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921240" y="2706624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7" name="Text 45"/>
          <p:cNvSpPr/>
          <p:nvPr/>
        </p:nvSpPr>
        <p:spPr>
          <a:xfrm>
            <a:off x="9957816" y="2862072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927080" y="2706624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9" name="Text 47"/>
          <p:cNvSpPr/>
          <p:nvPr/>
        </p:nvSpPr>
        <p:spPr>
          <a:xfrm>
            <a:off x="10963656" y="2862072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/mnt/secure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06640" y="3182112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1" name="Text 49"/>
          <p:cNvSpPr/>
          <p:nvPr/>
        </p:nvSpPr>
        <p:spPr>
          <a:xfrm>
            <a:off x="7443216" y="3337560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869680" y="3182112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3" name="Text 51"/>
          <p:cNvSpPr/>
          <p:nvPr/>
        </p:nvSpPr>
        <p:spPr>
          <a:xfrm>
            <a:off x="8906256" y="3337560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zaštita (samo 22)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921240" y="3182112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5" name="Text 53"/>
          <p:cNvSpPr/>
          <p:nvPr/>
        </p:nvSpPr>
        <p:spPr>
          <a:xfrm>
            <a:off x="9957816" y="3337560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927080" y="3182112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7" name="Text 55"/>
          <p:cNvSpPr/>
          <p:nvPr/>
        </p:nvSpPr>
        <p:spPr>
          <a:xfrm>
            <a:off x="10963656" y="3337560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06640" y="3657600"/>
            <a:ext cx="13258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9" name="Text 57"/>
          <p:cNvSpPr/>
          <p:nvPr/>
        </p:nvSpPr>
        <p:spPr>
          <a:xfrm>
            <a:off x="7443216" y="3813048"/>
            <a:ext cx="12527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869680" y="3657600"/>
            <a:ext cx="96012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1" name="Text 59"/>
          <p:cNvSpPr/>
          <p:nvPr/>
        </p:nvSpPr>
        <p:spPr>
          <a:xfrm>
            <a:off x="8906256" y="3813048"/>
            <a:ext cx="88696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921240" y="3657600"/>
            <a:ext cx="86868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3" name="Text 61"/>
          <p:cNvSpPr/>
          <p:nvPr/>
        </p:nvSpPr>
        <p:spPr>
          <a:xfrm>
            <a:off x="9957816" y="3813048"/>
            <a:ext cx="79552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927080" y="3657600"/>
            <a:ext cx="822960" cy="475488"/>
          </a:xfrm>
          <a:prstGeom prst="roundRect">
            <a:avLst>
              <a:gd name="adj" fmla="val 3846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5" name="Text 63"/>
          <p:cNvSpPr/>
          <p:nvPr/>
        </p:nvSpPr>
        <p:spPr>
          <a:xfrm>
            <a:off x="10963656" y="3813048"/>
            <a:ext cx="749808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406640" y="4480560"/>
            <a:ext cx="4343400" cy="109728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7" name="Shape 65"/>
          <p:cNvSpPr/>
          <p:nvPr/>
        </p:nvSpPr>
        <p:spPr>
          <a:xfrm>
            <a:off x="7406640" y="4480560"/>
            <a:ext cx="73152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8" name="Text 66"/>
          <p:cNvSpPr/>
          <p:nvPr/>
        </p:nvSpPr>
        <p:spPr>
          <a:xfrm>
            <a:off x="7571232" y="4608576"/>
            <a:ext cx="40690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Obvezno objasniti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7571232" y="4919472"/>
            <a:ext cx="4050792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Jedan VM (Rocky 9.6) + dodatni LUKS disk; izvana dopušten samo SSH (22); dokaz da radi = sha256sum -c OK nakon reboota.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Implementacija i ključna konfiguracija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C7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Što je stvarno napravljeno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9728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490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685800" y="1591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993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12" name="Shape 10"/>
          <p:cNvSpPr/>
          <p:nvPr/>
        </p:nvSpPr>
        <p:spPr>
          <a:xfrm>
            <a:off x="1325880" y="1417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Shape 11"/>
          <p:cNvSpPr/>
          <p:nvPr/>
        </p:nvSpPr>
        <p:spPr>
          <a:xfrm>
            <a:off x="1325880" y="1417320"/>
            <a:ext cx="7315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1490472" y="1545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Priprema okruženja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0472" y="1856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Rocky 9.6; instaliran cryptsetup; disk preko /dev/disk/azure/scsi1/lun0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685800" y="2734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136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19" name="Shape 17"/>
          <p:cNvSpPr/>
          <p:nvPr/>
        </p:nvSpPr>
        <p:spPr>
          <a:xfrm>
            <a:off x="1325880" y="2560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Shape 18"/>
          <p:cNvSpPr/>
          <p:nvPr/>
        </p:nvSpPr>
        <p:spPr>
          <a:xfrm>
            <a:off x="1325880" y="2560320"/>
            <a:ext cx="73152" cy="804672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1" name="Text 19"/>
          <p:cNvSpPr/>
          <p:nvPr/>
        </p:nvSpPr>
        <p:spPr>
          <a:xfrm>
            <a:off x="1490472" y="2688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LUKS2 izrada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90472" y="2999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cryptsetup luksFormat (aes-xts-plain64, argon2id)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3776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4" name="Text 22"/>
          <p:cNvSpPr/>
          <p:nvPr/>
        </p:nvSpPr>
        <p:spPr>
          <a:xfrm>
            <a:off x="685800" y="3877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279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26" name="Shape 24"/>
          <p:cNvSpPr/>
          <p:nvPr/>
        </p:nvSpPr>
        <p:spPr>
          <a:xfrm>
            <a:off x="1325880" y="3703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Shape 25"/>
          <p:cNvSpPr/>
          <p:nvPr/>
        </p:nvSpPr>
        <p:spPr>
          <a:xfrm>
            <a:off x="1325880" y="3703320"/>
            <a:ext cx="7315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8" name="Text 26"/>
          <p:cNvSpPr/>
          <p:nvPr/>
        </p:nvSpPr>
        <p:spPr>
          <a:xfrm>
            <a:off x="1490472" y="3831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Otključavanje + XFS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90472" y="4142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luksOpen → mkfs.xfs → mount /mnt/secure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491947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685800" y="5020056"/>
            <a:ext cx="457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5422392"/>
            <a:ext cx="0" cy="384048"/>
          </a:xfrm>
          <a:prstGeom prst="line">
            <a:avLst/>
          </a:prstGeom>
          <a:noFill/>
          <a:ln w="15240">
            <a:solidFill>
              <a:srgbClr val="E7ED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/>
          </a:p>
        </p:txBody>
      </p:sp>
      <p:sp>
        <p:nvSpPr>
          <p:cNvPr id="33" name="Shape 31"/>
          <p:cNvSpPr/>
          <p:nvPr/>
        </p:nvSpPr>
        <p:spPr>
          <a:xfrm>
            <a:off x="1325880" y="484632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4" name="Shape 32"/>
          <p:cNvSpPr/>
          <p:nvPr/>
        </p:nvSpPr>
        <p:spPr>
          <a:xfrm>
            <a:off x="1325880" y="4846320"/>
            <a:ext cx="73152" cy="804672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5" name="Text 33"/>
          <p:cNvSpPr/>
          <p:nvPr/>
        </p:nvSpPr>
        <p:spPr>
          <a:xfrm>
            <a:off x="1490472" y="4974336"/>
            <a:ext cx="3703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Pokretanje i trajnost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90472" y="5285232"/>
            <a:ext cx="36850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keyfile + /etc/crypttab (UUID) + /etc/fstab (nofail)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715000" y="1417320"/>
            <a:ext cx="580644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8" name="Shape 36"/>
          <p:cNvSpPr/>
          <p:nvPr/>
        </p:nvSpPr>
        <p:spPr>
          <a:xfrm>
            <a:off x="5715000" y="1417320"/>
            <a:ext cx="73152" cy="1325880"/>
          </a:xfrm>
          <a:prstGeom prst="rect">
            <a:avLst/>
          </a:prstGeom>
          <a:solidFill>
            <a:srgbClr val="E68619"/>
          </a:solidFill>
          <a:ln w="12700">
            <a:solidFill>
              <a:srgbClr val="E6861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9" name="Text 37"/>
          <p:cNvSpPr/>
          <p:nvPr/>
        </p:nvSpPr>
        <p:spPr>
          <a:xfrm>
            <a:off x="5879592" y="1545336"/>
            <a:ext cx="5532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Ključni ispis konfiguracije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879592" y="1856232"/>
            <a:ext cx="5513832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lsblk -f → sdX crypto_LUKS → securedata xfs (/mnt/secure); luksDump → LUKS2, aes-xts-plain64, 2 keyslota.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715000" y="306324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2" name="Shape 40"/>
          <p:cNvSpPr/>
          <p:nvPr/>
        </p:nvSpPr>
        <p:spPr>
          <a:xfrm>
            <a:off x="5715000" y="3063240"/>
            <a:ext cx="73152" cy="1234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3" name="Text 41"/>
          <p:cNvSpPr/>
          <p:nvPr/>
        </p:nvSpPr>
        <p:spPr>
          <a:xfrm>
            <a:off x="5879592" y="3191256"/>
            <a:ext cx="5532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Revizijski trag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879592" y="3502152"/>
            <a:ext cx="5513832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rpm -q (paketi), systemctl is-active (servis), ss -tulpen (port 22), cat crypttab/fstab — svi sirovi ispisi su u izvješću.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715000" y="4617720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6" name="Shape 44"/>
          <p:cNvSpPr/>
          <p:nvPr/>
        </p:nvSpPr>
        <p:spPr>
          <a:xfrm>
            <a:off x="5715000" y="4617720"/>
            <a:ext cx="73152" cy="9601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7" name="Text 45"/>
          <p:cNvSpPr/>
          <p:nvPr/>
        </p:nvSpPr>
        <p:spPr>
          <a:xfrm>
            <a:off x="5879592" y="4745736"/>
            <a:ext cx="5532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Ograničenja / napomena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879592" y="5056632"/>
            <a:ext cx="5513832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Keyfile leži na (SSE-šifriranom) OS disku; u produkciji Key Vault/TPM. Zbog 1 GiB RAM-a: --pbkdf-memory 256 MiB.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38912" y="11887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Ispitivanje, dokazi i zaključak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146304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C7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Obrana rješenja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91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411480" y="6620256"/>
            <a:ext cx="113385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9728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ispitivanja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1755648"/>
            <a:ext cx="50292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612648" y="1856232"/>
            <a:ext cx="46634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34440" y="1755648"/>
            <a:ext cx="160020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Text 11"/>
          <p:cNvSpPr/>
          <p:nvPr/>
        </p:nvSpPr>
        <p:spPr>
          <a:xfrm>
            <a:off x="1252728" y="1856232"/>
            <a:ext cx="15636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Provjera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71800" y="1755648"/>
            <a:ext cx="169164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2990088" y="1856232"/>
            <a:ext cx="165506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Naredba/radnja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1755648"/>
            <a:ext cx="132588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4864608" y="1856232"/>
            <a:ext cx="128930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Dobiveno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1755648"/>
            <a:ext cx="914400" cy="365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6419088" y="1856232"/>
            <a:ext cx="877824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2121408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1" name="Text 19"/>
          <p:cNvSpPr/>
          <p:nvPr/>
        </p:nvSpPr>
        <p:spPr>
          <a:xfrm>
            <a:off x="621792" y="2258568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34440" y="2121408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1"/>
          <p:cNvSpPr/>
          <p:nvPr/>
        </p:nvSpPr>
        <p:spPr>
          <a:xfrm>
            <a:off x="1261872" y="2258568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Valjanost LUKS headera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71800" y="2121408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 23"/>
          <p:cNvSpPr/>
          <p:nvPr/>
        </p:nvSpPr>
        <p:spPr>
          <a:xfrm>
            <a:off x="2999232" y="2258568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cryptsetup luksDump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2121408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Text 25"/>
          <p:cNvSpPr/>
          <p:nvPr/>
        </p:nvSpPr>
        <p:spPr>
          <a:xfrm>
            <a:off x="4873752" y="2258568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LUKS2, aes-xts-plain64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0" y="2121408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9" name="Text 27"/>
          <p:cNvSpPr/>
          <p:nvPr/>
        </p:nvSpPr>
        <p:spPr>
          <a:xfrm>
            <a:off x="6428232" y="2258568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2560320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621792" y="2697480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234440" y="2560320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3" name="Text 31"/>
          <p:cNvSpPr/>
          <p:nvPr/>
        </p:nvSpPr>
        <p:spPr>
          <a:xfrm>
            <a:off x="1261872" y="2697480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 uređaja (2 razine)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71800" y="2560320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5" name="Text 33"/>
          <p:cNvSpPr/>
          <p:nvPr/>
        </p:nvSpPr>
        <p:spPr>
          <a:xfrm>
            <a:off x="2999232" y="2697480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lsblk -f / blkid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2560320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7" name="Text 35"/>
          <p:cNvSpPr/>
          <p:nvPr/>
        </p:nvSpPr>
        <p:spPr>
          <a:xfrm>
            <a:off x="4873752" y="2697480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crypto_LUKS → xfs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2560320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9" name="Text 37"/>
          <p:cNvSpPr/>
          <p:nvPr/>
        </p:nvSpPr>
        <p:spPr>
          <a:xfrm>
            <a:off x="6428232" y="2697480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4360" y="2999232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1" name="Text 39"/>
          <p:cNvSpPr/>
          <p:nvPr/>
        </p:nvSpPr>
        <p:spPr>
          <a:xfrm>
            <a:off x="621792" y="3136392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234440" y="2999232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3" name="Text 41"/>
          <p:cNvSpPr/>
          <p:nvPr/>
        </p:nvSpPr>
        <p:spPr>
          <a:xfrm>
            <a:off x="1261872" y="3136392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Otključ. + mount + upis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971800" y="2999232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5" name="Text 43"/>
          <p:cNvSpPr/>
          <p:nvPr/>
        </p:nvSpPr>
        <p:spPr>
          <a:xfrm>
            <a:off x="2999232" y="3136392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luksOpen, mkfs, mount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2999232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7" name="Text 45"/>
          <p:cNvSpPr/>
          <p:nvPr/>
        </p:nvSpPr>
        <p:spPr>
          <a:xfrm>
            <a:off x="4873752" y="3136392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montiran; upis radi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00800" y="2999232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9" name="Text 47"/>
          <p:cNvSpPr/>
          <p:nvPr/>
        </p:nvSpPr>
        <p:spPr>
          <a:xfrm>
            <a:off x="6428232" y="3136392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" y="3438144"/>
            <a:ext cx="50292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1" name="Text 49"/>
          <p:cNvSpPr/>
          <p:nvPr/>
        </p:nvSpPr>
        <p:spPr>
          <a:xfrm>
            <a:off x="621792" y="3575304"/>
            <a:ext cx="448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234440" y="3438144"/>
            <a:ext cx="16002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3" name="Text 51"/>
          <p:cNvSpPr/>
          <p:nvPr/>
        </p:nvSpPr>
        <p:spPr>
          <a:xfrm>
            <a:off x="1261872" y="3575304"/>
            <a:ext cx="1545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Reboot + integritet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971800" y="3438144"/>
            <a:ext cx="169164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5" name="Text 53"/>
          <p:cNvSpPr/>
          <p:nvPr/>
        </p:nvSpPr>
        <p:spPr>
          <a:xfrm>
            <a:off x="2999232" y="3575304"/>
            <a:ext cx="163677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sha256sum -c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46320" y="3438144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7" name="Text 55"/>
          <p:cNvSpPr/>
          <p:nvPr/>
        </p:nvSpPr>
        <p:spPr>
          <a:xfrm>
            <a:off x="4873752" y="357530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oba OK; auto-mount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0" y="3438144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9" name="Text 57"/>
          <p:cNvSpPr/>
          <p:nvPr/>
        </p:nvSpPr>
        <p:spPr>
          <a:xfrm>
            <a:off x="6428232" y="3575304"/>
            <a:ext cx="859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818120" y="14173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1" name="Shape 59"/>
          <p:cNvSpPr/>
          <p:nvPr/>
        </p:nvSpPr>
        <p:spPr>
          <a:xfrm>
            <a:off x="7818120" y="1417320"/>
            <a:ext cx="73152" cy="11887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2" name="Text 60"/>
          <p:cNvSpPr/>
          <p:nvPr/>
        </p:nvSpPr>
        <p:spPr>
          <a:xfrm>
            <a:off x="7982712" y="1545336"/>
            <a:ext cx="3291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Ključni dokaz rada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982712" y="1856232"/>
            <a:ext cx="3273552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sha256sum -c → OK nakon reboota; marker NIJE na sirovom disku (crypto_LUKS), a JEST u dešifriranoj datoteci (I5).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7818120" y="29718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5" name="Shape 63"/>
          <p:cNvSpPr/>
          <p:nvPr/>
        </p:nvSpPr>
        <p:spPr>
          <a:xfrm>
            <a:off x="7818120" y="2971800"/>
            <a:ext cx="73152" cy="1051560"/>
          </a:xfrm>
          <a:prstGeom prst="rect">
            <a:avLst/>
          </a:prstGeom>
          <a:solidFill>
            <a:srgbClr val="E68619"/>
          </a:solidFill>
          <a:ln w="12700">
            <a:solidFill>
              <a:srgbClr val="E6861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6" name="Text 64"/>
          <p:cNvSpPr/>
          <p:nvPr/>
        </p:nvSpPr>
        <p:spPr>
          <a:xfrm>
            <a:off x="7982712" y="3099816"/>
            <a:ext cx="3291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Poteškoće i rješenje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7982712" y="3410712"/>
            <a:ext cx="327355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boot + zamjena imena diska (sda↔sdb) nakon reboota → riješeno keyfileom, opcijom nofail i LUKS UUID-om.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94360" y="45262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9" name="Shape 67"/>
          <p:cNvSpPr/>
          <p:nvPr/>
        </p:nvSpPr>
        <p:spPr>
          <a:xfrm>
            <a:off x="594360" y="4526280"/>
            <a:ext cx="73152" cy="1051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0" name="Text 68"/>
          <p:cNvSpPr/>
          <p:nvPr/>
        </p:nvSpPr>
        <p:spPr>
          <a:xfrm>
            <a:off x="758952" y="4654296"/>
            <a:ext cx="3200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Zaključak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758952" y="4965192"/>
            <a:ext cx="318211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Ručni LUKS = ista dm-crypt/LUKS tehnologija koju ADE koristi na Linuxu; pouzdana zaštita u mirovanju; ograničenje: keyfile na OS disku.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4343400" y="45262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3" name="Shape 71"/>
          <p:cNvSpPr/>
          <p:nvPr/>
        </p:nvSpPr>
        <p:spPr>
          <a:xfrm>
            <a:off x="4343400" y="4526280"/>
            <a:ext cx="73152" cy="105156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4" name="Text 72"/>
          <p:cNvSpPr/>
          <p:nvPr/>
        </p:nvSpPr>
        <p:spPr>
          <a:xfrm>
            <a:off x="4507992" y="4654296"/>
            <a:ext cx="2788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resursi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4507992" y="4965192"/>
            <a:ext cx="277063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dealociran (prestaje naplata); resursi se brišu nakon obrane.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7818120" y="4526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7" name="Shape 75"/>
          <p:cNvSpPr/>
          <p:nvPr/>
        </p:nvSpPr>
        <p:spPr>
          <a:xfrm>
            <a:off x="7818120" y="452628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8" name="Text 76"/>
          <p:cNvSpPr/>
          <p:nvPr/>
        </p:nvSpPr>
        <p:spPr>
          <a:xfrm>
            <a:off x="7982712" y="4654296"/>
            <a:ext cx="3291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Doprinos članova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7982712" y="4965192"/>
            <a:ext cx="3273552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Filip Kušer: Azure + LUKS konfiguracija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Patrik Ostrunić: ispitivanje + dokumentacija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Oba člana odgovaraju na pitanja.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5871FA99BD6428D2B8548AB05228A" ma:contentTypeVersion="6" ma:contentTypeDescription="Create a new document." ma:contentTypeScope="" ma:versionID="b6c96bb1f5f6e1b508de8a1570023802">
  <xsd:schema xmlns:xsd="http://www.w3.org/2001/XMLSchema" xmlns:xs="http://www.w3.org/2001/XMLSchema" xmlns:p="http://schemas.microsoft.com/office/2006/metadata/properties" xmlns:ns2="184ba066-02d0-4c70-9ed9-08d3df8ed4c4" xmlns:ns3="8e2c5992-547f-47fe-bf93-eaf8a117a3e4" targetNamespace="http://schemas.microsoft.com/office/2006/metadata/properties" ma:root="true" ma:fieldsID="af1ef0d03090cff01220b7a08d328592" ns2:_="" ns3:_="">
    <xsd:import namespace="184ba066-02d0-4c70-9ed9-08d3df8ed4c4"/>
    <xsd:import namespace="8e2c5992-547f-47fe-bf93-eaf8a117a3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a066-02d0-4c70-9ed9-08d3df8ed4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c5992-547f-47fe-bf93-eaf8a117a3e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A096E-1B95-4D45-9603-0BE936AC48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6F30C1-EFE6-4ED9-8A9A-F6084D0C1E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FF6541-D7A0-4752-B09F-333BD31ABB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4ba066-02d0-4c70-9ed9-08d3df8ed4c4"/>
    <ds:schemaRef ds:uri="8e2c5992-547f-47fe-bf93-eaf8a117a3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683</Words>
  <Application>Microsoft Macintosh PowerPoint</Application>
  <PresentationFormat>Widescreen</PresentationFormat>
  <Paragraphs>116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FER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NUX 26 - Predlozak seminarske prezentacije</dc:title>
  <dc:subject>Napredna UNIX rjesenja - predlozak prezentacije</dc:subject>
  <dc:creator>Vlado Sruk</dc:creator>
  <cp:lastModifiedBy>Filip Kušer</cp:lastModifiedBy>
  <cp:revision>2</cp:revision>
  <dcterms:created xsi:type="dcterms:W3CDTF">2026-05-16T14:01:12Z</dcterms:created>
  <dcterms:modified xsi:type="dcterms:W3CDTF">2026-06-07T11:33:08Z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0x0101002D85871FA99BD6428D2B8548AB05228A</vt:lpwstr>
  </property>
</Properties>
</file>